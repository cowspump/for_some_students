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07.11.2012</a:t>
            </a:fld>
            <a:endParaRPr lang="ru-RU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07.11.2012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07.11.2012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07.11.2012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07.11.2012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07.11.2012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07.11.2012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07.11.2012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07.11.2012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07.11.2012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07.11.2012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69CDA369-9536-48EE-9AE9-AB80FD1DEDC4}" type="datetimeFigureOut">
              <a:rPr lang="ru-RU" smtClean="0"/>
              <a:pPr/>
              <a:t>07.11.2012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0" y="1"/>
            <a:ext cx="9144000" cy="1071546"/>
          </a:xfrm>
          <a:solidFill>
            <a:srgbClr val="92D050"/>
          </a:solidFill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   </a:t>
            </a:r>
            <a:r>
              <a:rPr lang="ru-RU" sz="32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Сабақ</a:t>
            </a:r>
            <a:r>
              <a:rPr lang="ru-RU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32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тақырыбы</a:t>
            </a:r>
            <a:r>
              <a:rPr lang="ru-RU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:   Проекция  </a:t>
            </a:r>
            <a:r>
              <a:rPr lang="ru-RU" sz="32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түрлері</a:t>
            </a:r>
            <a:r>
              <a:rPr lang="ru-RU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  <a:br>
              <a:rPr lang="ru-RU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</a:br>
            <a:r>
              <a:rPr lang="ru-RU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                               </a:t>
            </a:r>
            <a:r>
              <a:rPr lang="ru-RU" sz="32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Нүкте</a:t>
            </a:r>
            <a:r>
              <a:rPr lang="ru-RU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32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проекциясы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1071546"/>
            <a:ext cx="9144000" cy="5786454"/>
          </a:xfrm>
          <a:solidFill>
            <a:srgbClr val="0070C0"/>
          </a:solidFill>
        </p:spPr>
        <p:txBody>
          <a:bodyPr>
            <a:normAutofit/>
          </a:bodyPr>
          <a:lstStyle/>
          <a:p>
            <a:pPr algn="ctr"/>
            <a:endParaRPr lang="ru-RU" sz="390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ru-RU" sz="3900" dirty="0" smtClean="0">
              <a:latin typeface="Arial" pitchFamily="34" charset="0"/>
              <a:cs typeface="Arial" pitchFamily="34" charset="0"/>
            </a:endParaRPr>
          </a:p>
          <a:p>
            <a:r>
              <a:rPr lang="ru-RU" sz="3900" dirty="0" smtClean="0">
                <a:latin typeface="Arial" pitchFamily="34" charset="0"/>
                <a:cs typeface="Arial" pitchFamily="34" charset="0"/>
              </a:rPr>
              <a:t>         </a:t>
            </a:r>
            <a:endParaRPr lang="ru-RU" sz="3600" dirty="0" smtClean="0">
              <a:solidFill>
                <a:srgbClr val="FFC000"/>
              </a:solidFill>
              <a:latin typeface="Arial" pitchFamily="34" charset="0"/>
              <a:cs typeface="Arial" pitchFamily="34" charset="0"/>
            </a:endParaRPr>
          </a:p>
          <a:p>
            <a:endParaRPr lang="ru-RU" sz="3600" dirty="0"/>
          </a:p>
        </p:txBody>
      </p:sp>
      <p:pic>
        <p:nvPicPr>
          <p:cNvPr id="5" name="Рисунок 4" descr="http://ingraf.ru/ngeo/L-003/pic8/img/pic1.gif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357298"/>
            <a:ext cx="8143932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kk-KZ" sz="3200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Проекция дегеніміз не?</a:t>
            </a:r>
            <a:endParaRPr lang="ru-RU" sz="3200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447800"/>
            <a:ext cx="9144000" cy="4800600"/>
          </a:xfrm>
          <a:solidFill>
            <a:srgbClr val="00B050"/>
          </a:solidFill>
        </p:spPr>
        <p:txBody>
          <a:bodyPr/>
          <a:lstStyle/>
          <a:p>
            <a:endParaRPr lang="kk-KZ" dirty="0" smtClean="0"/>
          </a:p>
          <a:p>
            <a:endParaRPr lang="kk-KZ" dirty="0" smtClean="0"/>
          </a:p>
          <a:p>
            <a:pPr algn="ctr"/>
            <a:r>
              <a:rPr lang="kk-KZ" sz="40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Проекция – </a:t>
            </a:r>
          </a:p>
          <a:p>
            <a:pPr algn="ctr"/>
            <a:r>
              <a:rPr lang="kk-KZ" sz="40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нәрсенің </a:t>
            </a:r>
            <a:r>
              <a:rPr lang="kk-KZ" sz="40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жазықтықтағы </a:t>
            </a:r>
            <a:r>
              <a:rPr lang="kk-KZ" sz="40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кескіні</a:t>
            </a:r>
            <a:endParaRPr lang="ru-RU" sz="400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kk-KZ" sz="32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Проекциялау дегеніміз не?</a:t>
            </a:r>
            <a:endParaRPr lang="ru-RU" sz="320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428736"/>
            <a:ext cx="9144000" cy="5429264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endParaRPr lang="kk-KZ" dirty="0" smtClean="0">
              <a:latin typeface="Times New Roman" pitchFamily="18" charset="0"/>
              <a:cs typeface="Times New Roman" pitchFamily="18" charset="0"/>
            </a:endParaRPr>
          </a:p>
          <a:p>
            <a:endParaRPr lang="kk-KZ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kk-KZ" dirty="0" smtClean="0">
                <a:latin typeface="Times New Roman" pitchFamily="18" charset="0"/>
                <a:cs typeface="Times New Roman" pitchFamily="18" charset="0"/>
              </a:rPr>
              <a:t>Проекциялау- нәрсенің кескінін </a:t>
            </a:r>
          </a:p>
          <a:p>
            <a:pPr algn="ctr">
              <a:buNone/>
            </a:pPr>
            <a:r>
              <a:rPr lang="kk-KZ" dirty="0" smtClean="0">
                <a:latin typeface="Times New Roman" pitchFamily="18" charset="0"/>
                <a:cs typeface="Times New Roman" pitchFamily="18" charset="0"/>
              </a:rPr>
              <a:t>   жазықтыққа шығарып алу.</a:t>
            </a:r>
          </a:p>
          <a:p>
            <a:pPr algn="ctr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 descr="Параллельное проецирование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3643314"/>
            <a:ext cx="5643602" cy="3000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933688" cy="1417638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4" name="Содержимое 3" descr="Рисунок 1"/>
          <p:cNvPicPr>
            <a:picLocks noGrp="1"/>
          </p:cNvPicPr>
          <p:nvPr>
            <p:ph idx="1"/>
          </p:nvPr>
        </p:nvPicPr>
        <p:blipFill>
          <a:blip r:embed="rId2"/>
          <a:srcRect l="11900" t="4986" r="5428" b="415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0" y="142852"/>
            <a:ext cx="9144000" cy="1071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2800" dirty="0" smtClean="0">
                <a:latin typeface="Times New Roman" pitchFamily="18" charset="0"/>
                <a:cs typeface="Times New Roman" pitchFamily="18" charset="0"/>
              </a:rPr>
              <a:t>Проекциялау әдістері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71736" y="1928802"/>
            <a:ext cx="3357586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2800" dirty="0" smtClean="0">
                <a:latin typeface="Times New Roman" pitchFamily="18" charset="0"/>
                <a:cs typeface="Times New Roman" pitchFamily="18" charset="0"/>
              </a:rPr>
              <a:t>Проекциялау 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28596" y="2928934"/>
            <a:ext cx="2857520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2800" dirty="0" smtClean="0">
                <a:latin typeface="Times New Roman" pitchFamily="18" charset="0"/>
                <a:cs typeface="Times New Roman" pitchFamily="18" charset="0"/>
              </a:rPr>
              <a:t>Центрлік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143504" y="2857496"/>
            <a:ext cx="3000396" cy="857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2400" dirty="0" smtClean="0">
                <a:latin typeface="Times New Roman" pitchFamily="18" charset="0"/>
                <a:cs typeface="Times New Roman" pitchFamily="18" charset="0"/>
              </a:rPr>
              <a:t>Параллель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500430" y="4214818"/>
            <a:ext cx="2500330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2800" dirty="0" smtClean="0">
                <a:latin typeface="Times New Roman" pitchFamily="18" charset="0"/>
                <a:cs typeface="Times New Roman" pitchFamily="18" charset="0"/>
              </a:rPr>
              <a:t>Қиғаш бұрыштап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572264" y="4214818"/>
            <a:ext cx="2571736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2400" dirty="0" smtClean="0">
                <a:latin typeface="Times New Roman" pitchFamily="18" charset="0"/>
                <a:cs typeface="Times New Roman" pitchFamily="18" charset="0"/>
              </a:rPr>
              <a:t>Тікбұрыштап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6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10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14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18" dur="2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22" dur="2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chemeClr val="bg2"/>
          </a:solidFill>
        </p:spPr>
        <p:txBody>
          <a:bodyPr/>
          <a:lstStyle/>
          <a:p>
            <a:endParaRPr lang="kk-KZ" dirty="0" smtClean="0">
              <a:latin typeface="Times New Roman" pitchFamily="18" charset="0"/>
              <a:cs typeface="Times New Roman" pitchFamily="18" charset="0"/>
            </a:endParaRPr>
          </a:p>
          <a:p>
            <a:endParaRPr lang="kk-KZ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kk-KZ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b="1" dirty="0" smtClean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b="1" dirty="0" smtClean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kk-KZ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ru-RU" b="1" dirty="0" smtClean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85786" y="214290"/>
            <a:ext cx="7715304" cy="1000132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k-KZ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k-KZ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Проекция түрлері:</a:t>
            </a:r>
            <a:endParaRPr lang="ru-RU" sz="3200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1285852" y="1571612"/>
            <a:ext cx="6215106" cy="5715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3200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1. Центрлік проекция</a:t>
            </a:r>
            <a:endParaRPr lang="ru-RU" sz="3200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785786" y="2500306"/>
            <a:ext cx="7143800" cy="5715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k-KZ" sz="2800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2.Аксонометриялық проекция</a:t>
            </a:r>
            <a:endParaRPr lang="ru-RU" sz="2800" b="1" dirty="0" smtClean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28596" y="3571876"/>
            <a:ext cx="8215370" cy="85725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k-KZ" sz="3200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3.Тікбұрышты(ортогональды) проекция</a:t>
            </a:r>
            <a:endParaRPr lang="ru-RU" sz="3200" b="1" dirty="0" smtClean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357158" y="5000636"/>
            <a:ext cx="8501122" cy="85725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k-KZ" sz="3200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4.Сан  белгісімен  проекция</a:t>
            </a:r>
            <a:endParaRPr lang="ru-RU" sz="3200" b="1" dirty="0" smtClean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428736"/>
            <a:ext cx="9144000" cy="5429264"/>
          </a:xfrm>
          <a:prstGeom prst="rect">
            <a:avLst/>
          </a:prstGeom>
          <a:noFill/>
        </p:spPr>
      </p:pic>
      <p:sp>
        <p:nvSpPr>
          <p:cNvPr id="5" name="Пятиугольник 4"/>
          <p:cNvSpPr/>
          <p:nvPr/>
        </p:nvSpPr>
        <p:spPr>
          <a:xfrm>
            <a:off x="428596" y="6429396"/>
            <a:ext cx="3929090" cy="428604"/>
          </a:xfrm>
          <a:prstGeom prst="homePlat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Выноска со стрелкой вниз 5"/>
          <p:cNvSpPr/>
          <p:nvPr/>
        </p:nvSpPr>
        <p:spPr>
          <a:xfrm>
            <a:off x="1500166" y="285728"/>
            <a:ext cx="6286544" cy="1071570"/>
          </a:xfrm>
          <a:prstGeom prst="downArrowCallou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k-KZ" sz="2800" dirty="0" smtClean="0">
                <a:latin typeface="Times New Roman" pitchFamily="18" charset="0"/>
                <a:cs typeface="Times New Roman" pitchFamily="18" charset="0"/>
              </a:rPr>
              <a:t>Нәрсені үш жазықтыққа проекциялау </a:t>
            </a: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92D050"/>
          </a:solidFill>
        </p:spPr>
        <p:txBody>
          <a:bodyPr>
            <a:normAutofit/>
          </a:bodyPr>
          <a:lstStyle/>
          <a:p>
            <a:r>
              <a:rPr lang="kk-KZ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             Модельдің сәйкес келетін үш проекциясын тап</a:t>
            </a:r>
            <a:r>
              <a:rPr lang="kk-KZ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Содержимое 8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428736"/>
            <a:ext cx="9144000" cy="5429264"/>
          </a:xfrm>
          <a:prstGeom prst="rect">
            <a:avLst/>
          </a:prstGeom>
          <a:noFill/>
        </p:spPr>
      </p:pic>
      <p:sp>
        <p:nvSpPr>
          <p:cNvPr id="10" name="Овал 9"/>
          <p:cNvSpPr/>
          <p:nvPr/>
        </p:nvSpPr>
        <p:spPr>
          <a:xfrm>
            <a:off x="0" y="357166"/>
            <a:ext cx="2428860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itchFamily="18" charset="0"/>
                <a:cs typeface="Times New Roman" pitchFamily="18" charset="0"/>
              </a:rPr>
              <a:t>Тапсырма 1</a:t>
            </a:r>
            <a:endParaRPr lang="ru-RU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kk-KZ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kk-KZ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kk-KZ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kk-KZ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kk-KZ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kk-KZ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kk-KZ" sz="2400" dirty="0" smtClean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</a:t>
            </a:r>
            <a:r>
              <a:rPr lang="kk-KZ" sz="2700" b="1" dirty="0" smtClean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Тестпен жұмыс </a:t>
            </a:r>
            <a:r>
              <a:rPr lang="kk-KZ" sz="2400" dirty="0" smtClean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kk-KZ" sz="2400" dirty="0" smtClean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kk-KZ" sz="2400" dirty="0" smtClean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Көріністер бойынша  көрнекілік бейнесін тап. </a:t>
            </a:r>
            <a:br>
              <a:rPr lang="kk-KZ" sz="2400" dirty="0" smtClean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kk-KZ" sz="2400" dirty="0" smtClean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Сәйкес әріппен белгілерді кестеге жаз.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kk-KZ" sz="24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400" dirty="0" smtClean="0"/>
              <a:t/>
            </a:r>
            <a:br>
              <a:rPr lang="ru-RU" sz="2400" dirty="0" smtClean="0"/>
            </a:br>
            <a:endParaRPr lang="ru-RU" sz="2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57224" y="1970532"/>
            <a:ext cx="7715304" cy="4673178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0" y="6643710"/>
            <a:ext cx="9144000" cy="2142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0" y="1428736"/>
            <a:ext cx="857224" cy="52149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8501090" y="1428736"/>
            <a:ext cx="642910" cy="52149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857227" y="1428736"/>
          <a:ext cx="7643863" cy="571504"/>
        </p:xfrm>
        <a:graphic>
          <a:graphicData uri="http://schemas.openxmlformats.org/drawingml/2006/table">
            <a:tbl>
              <a:tblPr/>
              <a:tblGrid>
                <a:gridCol w="3109539"/>
                <a:gridCol w="666689"/>
                <a:gridCol w="712812"/>
                <a:gridCol w="831894"/>
                <a:gridCol w="713650"/>
                <a:gridCol w="712812"/>
                <a:gridCol w="896467"/>
              </a:tblGrid>
              <a:tr h="28575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k-KZ" sz="1400" b="1" dirty="0">
                          <a:latin typeface="Times New Roman"/>
                          <a:ea typeface="Times New Roman"/>
                        </a:rPr>
                        <a:t>Көріністер 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latin typeface="Times New Roman"/>
                          <a:ea typeface="Times New Roman"/>
                        </a:rPr>
                        <a:t>2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latin typeface="Times New Roman"/>
                          <a:ea typeface="Times New Roman"/>
                        </a:rPr>
                        <a:t>3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k-KZ" sz="1200">
                          <a:latin typeface="Times New Roman"/>
                          <a:ea typeface="Times New Roman"/>
                        </a:rPr>
                        <a:t>   4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k-KZ" sz="1200">
                          <a:latin typeface="Times New Roman"/>
                          <a:ea typeface="Times New Roman"/>
                        </a:rPr>
                        <a:t>    5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k-KZ" sz="1200">
                          <a:latin typeface="Times New Roman"/>
                          <a:ea typeface="Times New Roman"/>
                        </a:rPr>
                        <a:t>     6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</a:tr>
              <a:tr h="28575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k-KZ" sz="1400" b="1" dirty="0">
                          <a:latin typeface="Times New Roman"/>
                          <a:ea typeface="Times New Roman"/>
                        </a:rPr>
                        <a:t>Көрнекілік бейнелер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kk-KZ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kk-KZ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kk-KZ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</a:tr>
            </a:tbl>
          </a:graphicData>
        </a:graphic>
      </p:graphicFrame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142844" y="285728"/>
            <a:ext cx="2214578" cy="8572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dirty="0" smtClean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Тапсырма 2 </a:t>
            </a:r>
            <a:endParaRPr lang="ru-RU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002060"/>
          </a:solidFill>
        </p:spPr>
        <p:txBody>
          <a:bodyPr>
            <a:normAutofit/>
          </a:bodyPr>
          <a:lstStyle/>
          <a:p>
            <a:r>
              <a:rPr lang="kk-KZ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Сызбада әдейі жіберілген қателерді</a:t>
            </a:r>
            <a:br>
              <a:rPr lang="kk-KZ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kk-KZ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және нүктелер проекциясын тап.</a:t>
            </a:r>
            <a:endParaRPr lang="ru-RU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Содержимое 3" descr="http://festival.1september.ru/articles/501044/img9.jpg"/>
          <p:cNvPicPr>
            <a:picLocks noGrp="1"/>
          </p:cNvPicPr>
          <p:nvPr>
            <p:ph idx="1"/>
          </p:nvPr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0" y="1428736"/>
            <a:ext cx="9144000" cy="5429263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miter lim="800000"/>
            <a:headEnd/>
            <a:tailEnd/>
          </a:ln>
        </p:spPr>
      </p:pic>
      <p:sp>
        <p:nvSpPr>
          <p:cNvPr id="5" name="Овал 4"/>
          <p:cNvSpPr/>
          <p:nvPr/>
        </p:nvSpPr>
        <p:spPr>
          <a:xfrm>
            <a:off x="214282" y="285728"/>
            <a:ext cx="2071702" cy="8572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Тапсырма </a:t>
            </a:r>
            <a:r>
              <a:rPr lang="kk-KZ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 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Содержимое 3" descr="http://festival.1september.ru/articles/501044/img10.jpg"/>
          <p:cNvPicPr>
            <a:picLocks noGrp="1"/>
          </p:cNvPicPr>
          <p:nvPr>
            <p:ph idx="1"/>
          </p:nvPr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1" y="1428737"/>
            <a:ext cx="5072065" cy="5429264"/>
          </a:xfrm>
          <a:prstGeom prst="rect">
            <a:avLst/>
          </a:prstGeom>
          <a:solidFill>
            <a:srgbClr val="FFFFFF">
              <a:shade val="85000"/>
            </a:srgbClr>
          </a:solidFill>
          <a:ln w="57150" cap="sq">
            <a:solidFill>
              <a:schemeClr val="accent2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Скругленный прямоугольник 4"/>
          <p:cNvSpPr/>
          <p:nvPr/>
        </p:nvSpPr>
        <p:spPr>
          <a:xfrm>
            <a:off x="0" y="214290"/>
            <a:ext cx="8858280" cy="92869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2800" dirty="0" smtClean="0">
                <a:latin typeface="Times New Roman" pitchFamily="18" charset="0"/>
                <a:cs typeface="Times New Roman" pitchFamily="18" charset="0"/>
              </a:rPr>
              <a:t>                       Тетікбөлшек үш көрінісін тұрғыз</a:t>
            </a:r>
            <a:endParaRPr lang="ru-RU" sz="2800" dirty="0"/>
          </a:p>
        </p:txBody>
      </p:sp>
      <p:sp>
        <p:nvSpPr>
          <p:cNvPr id="6" name="Овал 5"/>
          <p:cNvSpPr/>
          <p:nvPr/>
        </p:nvSpPr>
        <p:spPr>
          <a:xfrm>
            <a:off x="0" y="214290"/>
            <a:ext cx="1857356" cy="928694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k-KZ" dirty="0" smtClean="0">
                <a:latin typeface="Times New Roman" pitchFamily="18" charset="0"/>
                <a:cs typeface="Times New Roman" pitchFamily="18" charset="0"/>
              </a:rPr>
              <a:t>Тапсырма 4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0" y="274638"/>
            <a:ext cx="4361688" cy="939784"/>
          </a:xfrm>
        </p:spPr>
        <p:txBody>
          <a:bodyPr>
            <a:normAutofit/>
          </a:bodyPr>
          <a:lstStyle/>
          <a:p>
            <a:r>
              <a:rPr lang="kk-KZ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Содержимое 3" descr="Рисунок 15"/>
          <p:cNvPicPr>
            <a:picLocks noGrp="1"/>
          </p:cNvPicPr>
          <p:nvPr>
            <p:ph idx="1"/>
          </p:nvPr>
        </p:nvPicPr>
        <p:blipFill>
          <a:blip r:embed="rId2"/>
          <a:srcRect l="12058" t="4432" r="3534" b="5540"/>
          <a:stretch>
            <a:fillRect/>
          </a:stretch>
        </p:blipFill>
        <p:spPr bwMode="auto">
          <a:xfrm>
            <a:off x="0" y="1285860"/>
            <a:ext cx="9144000" cy="557214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miter lim="800000"/>
            <a:headEnd/>
            <a:tailEnd/>
          </a:ln>
        </p:spPr>
      </p:pic>
      <p:sp>
        <p:nvSpPr>
          <p:cNvPr id="5" name="Скругленный прямоугольник 4"/>
          <p:cNvSpPr/>
          <p:nvPr/>
        </p:nvSpPr>
        <p:spPr>
          <a:xfrm>
            <a:off x="0" y="0"/>
            <a:ext cx="9144000" cy="121442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k-KZ" sz="2800" dirty="0" smtClean="0">
                <a:latin typeface="Times New Roman" pitchFamily="18" charset="0"/>
                <a:cs typeface="Times New Roman" pitchFamily="18" charset="0"/>
              </a:rPr>
              <a:t>                      Сызба бойынша</a:t>
            </a:r>
            <a:r>
              <a:rPr lang="kk-KZ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k-KZ" sz="2800" dirty="0" smtClean="0">
                <a:latin typeface="Times New Roman" pitchFamily="18" charset="0"/>
                <a:cs typeface="Times New Roman" pitchFamily="18" charset="0"/>
              </a:rPr>
              <a:t>техникалық суретін сал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0" y="142852"/>
            <a:ext cx="2285984" cy="85725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Тапсырма5</a:t>
            </a:r>
            <a:endParaRPr lang="ru-RU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3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kk-KZ" sz="2800" dirty="0" smtClean="0"/>
              <a:t>                             </a:t>
            </a:r>
            <a:r>
              <a:rPr lang="kk-KZ" sz="28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Өлшем бойынша  аксонометриясын тұрғыз</a:t>
            </a:r>
            <a:endParaRPr lang="ru-RU" sz="2800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Содержимое 3" descr="Рисунок 20"/>
          <p:cNvPicPr>
            <a:picLocks noGrp="1"/>
          </p:cNvPicPr>
          <p:nvPr>
            <p:ph idx="1"/>
          </p:nvPr>
        </p:nvPicPr>
        <p:blipFill>
          <a:blip r:embed="rId2"/>
          <a:srcRect l="19295" t="3889" r="8713" b="8056"/>
          <a:stretch>
            <a:fillRect/>
          </a:stretch>
        </p:blipFill>
        <p:spPr bwMode="auto">
          <a:xfrm>
            <a:off x="0" y="1357298"/>
            <a:ext cx="9144000" cy="5500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Овал 4"/>
          <p:cNvSpPr/>
          <p:nvPr/>
        </p:nvSpPr>
        <p:spPr>
          <a:xfrm>
            <a:off x="0" y="571480"/>
            <a:ext cx="2071670" cy="7143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dirty="0" smtClean="0"/>
              <a:t>Тапсырма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00108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kk-KZ" sz="3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kk-KZ" sz="3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kk-KZ" sz="3200" b="1" dirty="0" smtClean="0">
                <a:latin typeface="Times New Roman" pitchFamily="18" charset="0"/>
                <a:cs typeface="Times New Roman" pitchFamily="18" charset="0"/>
              </a:rPr>
              <a:t>             Білімді   бекіту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200" dirty="0" smtClean="0">
                <a:latin typeface="Times New Roman" pitchFamily="18" charset="0"/>
                <a:cs typeface="Times New Roman" pitchFamily="18" charset="0"/>
              </a:rPr>
            </a:b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77500" lnSpcReduction="20000"/>
          </a:bodyPr>
          <a:lstStyle/>
          <a:p>
            <a:r>
              <a:rPr lang="kk-KZ" dirty="0" smtClean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Берілген орыс тілінде мәні бар қысқа сөздерді бір сөз етіп қосу арқылы сызу пәніне,оның ішінде проекцияға,проекцияны тұрғызу үшін қажет нәрселерге байланысты сөздерді табу.(барлық әріптерді пайдаланамыз</a:t>
            </a:r>
            <a:r>
              <a:rPr lang="kk-KZ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kk-KZ" b="1" i="1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kk-KZ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1.Т+АД+ЕЛЬ</a:t>
            </a:r>
            <a:endPara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kk-KZ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2.ПИР+ТРАНС+ТОР</a:t>
            </a:r>
            <a:endPara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kk-KZ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    3.Я+ВАГОН+ТОЛЬ</a:t>
            </a:r>
            <a:endPara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kk-KZ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         4.ЛАК+ИНЕЙ</a:t>
            </a:r>
            <a:endPara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kk-KZ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               5.ФАТ+РОМ</a:t>
            </a:r>
            <a:endPara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kk-KZ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  6.ДОМ+ЕЛЬ</a:t>
            </a:r>
            <a:endPara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kk-KZ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7.РИМ+ПАЗ</a:t>
            </a:r>
            <a:endPara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kk-KZ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8.РОЛЬ+ПИФ</a:t>
            </a:r>
            <a:endPara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kk-KZ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9.ШИНА+РЕЙС</a:t>
            </a:r>
            <a:endPara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kk-KZ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10.ФОРТ+ЛАНЬ</a:t>
            </a:r>
            <a:endPara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sp>
        <p:nvSpPr>
          <p:cNvPr id="6" name="Овал 5"/>
          <p:cNvSpPr/>
          <p:nvPr/>
        </p:nvSpPr>
        <p:spPr>
          <a:xfrm>
            <a:off x="214282" y="142852"/>
            <a:ext cx="2714644" cy="7143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« Құпия сөздер». </a:t>
            </a:r>
            <a:endParaRPr lang="ru-RU" dirty="0">
              <a:solidFill>
                <a:srgbClr val="FFFF00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2357422" y="2285992"/>
            <a:ext cx="5286412" cy="428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2800" b="1" i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«Құпия сөздер» тапсырмасы:</a:t>
            </a:r>
            <a:endParaRPr lang="ru-RU" sz="2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pPr algn="ctr"/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176854"/>
          </a:xfrm>
        </p:spPr>
        <p:txBody>
          <a:bodyPr>
            <a:normAutofit/>
          </a:bodyPr>
          <a:lstStyle/>
          <a:p>
            <a:r>
              <a:rPr lang="kk-KZ" b="1" dirty="0" smtClean="0"/>
              <a:t>                  </a:t>
            </a:r>
            <a:endParaRPr lang="ru-RU" dirty="0" smtClean="0"/>
          </a:p>
          <a:p>
            <a:r>
              <a:rPr lang="kk-KZ" dirty="0" smtClean="0"/>
              <a:t>     </a:t>
            </a:r>
            <a:endParaRPr lang="ru-RU" b="1" i="1" dirty="0" smtClean="0"/>
          </a:p>
          <a:p>
            <a:r>
              <a:rPr lang="kk-KZ" b="1" i="1" dirty="0" smtClean="0"/>
              <a:t>     </a:t>
            </a:r>
            <a:endParaRPr lang="ru-RU" b="1" i="1" dirty="0" smtClean="0"/>
          </a:p>
          <a:p>
            <a:endParaRPr lang="kk-KZ" b="1" i="1" dirty="0" smtClean="0"/>
          </a:p>
          <a:p>
            <a:endParaRPr lang="kk-KZ" b="1" i="1" dirty="0" smtClean="0"/>
          </a:p>
          <a:p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0" y="428604"/>
            <a:ext cx="9144000" cy="642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3200" b="1" dirty="0" smtClean="0">
                <a:latin typeface="Times New Roman" pitchFamily="18" charset="0"/>
                <a:cs typeface="Times New Roman" pitchFamily="18" charset="0"/>
              </a:rPr>
              <a:t>Жауабы: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9144000" cy="4286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0" y="6286520"/>
            <a:ext cx="9144000" cy="5714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ятно 2 6"/>
          <p:cNvSpPr/>
          <p:nvPr/>
        </p:nvSpPr>
        <p:spPr>
          <a:xfrm>
            <a:off x="285720" y="1071546"/>
            <a:ext cx="2928958" cy="1000132"/>
          </a:xfrm>
          <a:prstGeom prst="irregularSeal2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b="1" i="1" dirty="0" smtClean="0"/>
              <a:t>1.ДЕТАЛЬ</a:t>
            </a:r>
            <a:endParaRPr lang="ru-RU" dirty="0"/>
          </a:p>
        </p:txBody>
      </p:sp>
      <p:sp>
        <p:nvSpPr>
          <p:cNvPr id="8" name="Пятно 2 7"/>
          <p:cNvSpPr/>
          <p:nvPr/>
        </p:nvSpPr>
        <p:spPr>
          <a:xfrm>
            <a:off x="0" y="1857364"/>
            <a:ext cx="4500562" cy="1571636"/>
          </a:xfrm>
          <a:prstGeom prst="irregularSeal2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b="1" i="1" dirty="0" smtClean="0">
                <a:solidFill>
                  <a:srgbClr val="7030A0"/>
                </a:solidFill>
              </a:rPr>
              <a:t>2.ТРАНСПОРТИР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9" name="Пятно 2 8"/>
          <p:cNvSpPr/>
          <p:nvPr/>
        </p:nvSpPr>
        <p:spPr>
          <a:xfrm>
            <a:off x="3071802" y="1000108"/>
            <a:ext cx="4357718" cy="1143008"/>
          </a:xfrm>
          <a:prstGeom prst="irregularSeal2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b="1" i="1" dirty="0" smtClean="0"/>
              <a:t> </a:t>
            </a:r>
            <a:r>
              <a:rPr lang="kk-KZ" b="1" i="1" dirty="0" smtClean="0">
                <a:solidFill>
                  <a:srgbClr val="002060"/>
                </a:solidFill>
              </a:rPr>
              <a:t>3.ГОТОВАЛЬНЯ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10" name="Пятно 2 9"/>
          <p:cNvSpPr/>
          <p:nvPr/>
        </p:nvSpPr>
        <p:spPr>
          <a:xfrm>
            <a:off x="3571868" y="1857364"/>
            <a:ext cx="3571900" cy="1571636"/>
          </a:xfrm>
          <a:prstGeom prst="irregularSeal2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k-KZ" b="1" i="1" dirty="0" smtClean="0">
                <a:solidFill>
                  <a:srgbClr val="FF0000"/>
                </a:solidFill>
              </a:rPr>
              <a:t>4.ЛИНЕЙКА</a:t>
            </a:r>
            <a:endParaRPr lang="ru-RU" b="1" i="1" dirty="0" smtClean="0">
              <a:solidFill>
                <a:srgbClr val="FF0000"/>
              </a:solidFill>
            </a:endParaRPr>
          </a:p>
        </p:txBody>
      </p:sp>
      <p:sp>
        <p:nvSpPr>
          <p:cNvPr id="11" name="Пятно 2 10"/>
          <p:cNvSpPr/>
          <p:nvPr/>
        </p:nvSpPr>
        <p:spPr>
          <a:xfrm>
            <a:off x="6000760" y="1643050"/>
            <a:ext cx="3143240" cy="1928826"/>
          </a:xfrm>
          <a:prstGeom prst="irregularSeal2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k-KZ" b="1" i="1" dirty="0" smtClean="0"/>
              <a:t>5.ФОРМАТ</a:t>
            </a:r>
            <a:endParaRPr lang="ru-RU" b="1" i="1" dirty="0" smtClean="0"/>
          </a:p>
        </p:txBody>
      </p:sp>
      <p:sp>
        <p:nvSpPr>
          <p:cNvPr id="12" name="Пятно 2 11"/>
          <p:cNvSpPr/>
          <p:nvPr/>
        </p:nvSpPr>
        <p:spPr>
          <a:xfrm>
            <a:off x="0" y="3214686"/>
            <a:ext cx="3643306" cy="1714512"/>
          </a:xfrm>
          <a:prstGeom prst="irregularSeal2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k-KZ" b="1" i="1" dirty="0" smtClean="0">
                <a:solidFill>
                  <a:schemeClr val="accent3">
                    <a:lumMod val="75000"/>
                  </a:schemeClr>
                </a:solidFill>
              </a:rPr>
              <a:t>6.МОДЕЛЬ</a:t>
            </a:r>
            <a:endParaRPr lang="ru-RU" b="1" i="1" dirty="0" smtClean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3" name="Пятно 2 12"/>
          <p:cNvSpPr/>
          <p:nvPr/>
        </p:nvSpPr>
        <p:spPr>
          <a:xfrm>
            <a:off x="2857488" y="3286124"/>
            <a:ext cx="3429024" cy="1428760"/>
          </a:xfrm>
          <a:prstGeom prst="irregularSeal2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k-KZ" b="1" i="1" dirty="0" smtClean="0"/>
              <a:t>7. ПРИЗМА</a:t>
            </a:r>
            <a:endParaRPr lang="ru-RU" b="1" i="1" dirty="0" smtClean="0"/>
          </a:p>
        </p:txBody>
      </p:sp>
      <p:sp>
        <p:nvSpPr>
          <p:cNvPr id="14" name="Пятно 2 13"/>
          <p:cNvSpPr/>
          <p:nvPr/>
        </p:nvSpPr>
        <p:spPr>
          <a:xfrm>
            <a:off x="5500694" y="3500438"/>
            <a:ext cx="3643306" cy="1500198"/>
          </a:xfrm>
          <a:prstGeom prst="irregularSeal2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k-KZ" b="1" i="1" dirty="0" smtClean="0"/>
              <a:t>8. ПРОФИЛЬ</a:t>
            </a:r>
            <a:endParaRPr lang="ru-RU" b="1" i="1" dirty="0" smtClean="0"/>
          </a:p>
        </p:txBody>
      </p:sp>
      <p:sp>
        <p:nvSpPr>
          <p:cNvPr id="15" name="Пятно 2 14"/>
          <p:cNvSpPr/>
          <p:nvPr/>
        </p:nvSpPr>
        <p:spPr>
          <a:xfrm>
            <a:off x="4786314" y="4857760"/>
            <a:ext cx="4214842" cy="1357322"/>
          </a:xfrm>
          <a:prstGeom prst="irregularSeal2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k-KZ" b="1" i="1" dirty="0" smtClean="0">
                <a:solidFill>
                  <a:srgbClr val="FFFF00"/>
                </a:solidFill>
              </a:rPr>
              <a:t>9. РЕЙСШИНА</a:t>
            </a:r>
            <a:endParaRPr lang="ru-RU" b="1" i="1" dirty="0" smtClean="0">
              <a:solidFill>
                <a:srgbClr val="FFFF00"/>
              </a:solidFill>
            </a:endParaRPr>
          </a:p>
        </p:txBody>
      </p:sp>
      <p:sp>
        <p:nvSpPr>
          <p:cNvPr id="16" name="Пятно 2 15"/>
          <p:cNvSpPr/>
          <p:nvPr/>
        </p:nvSpPr>
        <p:spPr>
          <a:xfrm>
            <a:off x="357158" y="4714884"/>
            <a:ext cx="4572032" cy="1500198"/>
          </a:xfrm>
          <a:prstGeom prst="irregularSeal2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k-KZ" b="1" i="1" dirty="0" smtClean="0"/>
              <a:t>10.ФРОНТАЛЬ</a:t>
            </a:r>
            <a:endParaRPr lang="ru-RU" b="1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14612" y="274638"/>
            <a:ext cx="6219076" cy="1143000"/>
          </a:xfrm>
        </p:spPr>
        <p:txBody>
          <a:bodyPr>
            <a:normAutofit/>
          </a:bodyPr>
          <a:lstStyle/>
          <a:p>
            <a:r>
              <a:rPr lang="kk-KZ" sz="3200" b="1" dirty="0" smtClean="0">
                <a:latin typeface="Times New Roman" pitchFamily="18" charset="0"/>
                <a:cs typeface="Times New Roman" pitchFamily="18" charset="0"/>
              </a:rPr>
              <a:t>               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00B0F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kk-KZ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ru-RU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ln w="57150">
                <a:solidFill>
                  <a:srgbClr val="00B0F0"/>
                </a:solidFill>
              </a:ln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642910" y="642918"/>
            <a:ext cx="8001056" cy="12858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32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Үйге тапсырма</a:t>
            </a:r>
            <a:r>
              <a:rPr lang="kk-KZ" sz="3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3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714348" y="2285992"/>
            <a:ext cx="7643866" cy="41434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Нұсқа бойынша модельдің </a:t>
            </a:r>
          </a:p>
          <a:p>
            <a:pPr algn="ctr"/>
            <a:r>
              <a:rPr lang="kk-KZ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үш көрінісін, аксонометриясын </a:t>
            </a:r>
          </a:p>
          <a:p>
            <a:pPr algn="ctr"/>
            <a:r>
              <a:rPr lang="kk-KZ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А3 пішіміне тұрғызу,</a:t>
            </a:r>
          </a:p>
          <a:p>
            <a:pPr algn="ctr"/>
            <a:r>
              <a:rPr lang="kk-KZ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жиек пен негізгі жазу </a:t>
            </a:r>
          </a:p>
          <a:p>
            <a:pPr algn="ctr"/>
            <a:r>
              <a:rPr lang="kk-KZ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орындап келу</a:t>
            </a:r>
            <a:r>
              <a:rPr lang="kk-KZ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b="1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Солнцестояни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346</TotalTime>
  <Words>216</Words>
  <Application>Microsoft Office PowerPoint</Application>
  <PresentationFormat>Экран (4:3)</PresentationFormat>
  <Paragraphs>98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Солнцестояние</vt:lpstr>
      <vt:lpstr>     Сабақ тақырыбы:   Проекция  түрлері.                                       Нүкте проекциясы</vt:lpstr>
      <vt:lpstr>Проекция дегеніміз не?</vt:lpstr>
      <vt:lpstr>Проекциялау дегеніміз не?</vt:lpstr>
      <vt:lpstr>Слайд 4</vt:lpstr>
      <vt:lpstr>Слайд 5</vt:lpstr>
      <vt:lpstr>Слайд 6</vt:lpstr>
      <vt:lpstr>                                Модельдің сәйкес келетін үш проекциясын тап.</vt:lpstr>
      <vt:lpstr>                                                       Тестпен жұмыс                                           Көріністер бойынша  көрнекілік бейнесін тап.                                           Сәйкес әріппен белгілерді кестеге жаз.   </vt:lpstr>
      <vt:lpstr>                                        Сызбада әдейі жіберілген қателерді                                            және нүктелер проекциясын тап.</vt:lpstr>
      <vt:lpstr>Слайд 10</vt:lpstr>
      <vt:lpstr> </vt:lpstr>
      <vt:lpstr>                             Өлшем бойынша  аксонометриясын тұрғыз</vt:lpstr>
      <vt:lpstr>              Білімді   бекіту  </vt:lpstr>
      <vt:lpstr> </vt:lpstr>
      <vt:lpstr>               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25.02.11</dc:title>
  <dc:creator>Admin</dc:creator>
  <cp:lastModifiedBy>777</cp:lastModifiedBy>
  <cp:revision>34</cp:revision>
  <dcterms:created xsi:type="dcterms:W3CDTF">2011-02-21T13:18:45Z</dcterms:created>
  <dcterms:modified xsi:type="dcterms:W3CDTF">2012-11-07T07:06:03Z</dcterms:modified>
</cp:coreProperties>
</file>